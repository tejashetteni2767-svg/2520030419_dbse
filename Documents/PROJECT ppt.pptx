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17"/>
  </p:notesMasterIdLst>
  <p:handoutMasterIdLst>
    <p:handoutMasterId r:id="rId18"/>
  </p:handoutMasterIdLst>
  <p:sldIdLst>
    <p:sldId id="258" r:id="rId3"/>
    <p:sldId id="377" r:id="rId4"/>
    <p:sldId id="391" r:id="rId5"/>
    <p:sldId id="392" r:id="rId6"/>
    <p:sldId id="393" r:id="rId7"/>
    <p:sldId id="394" r:id="rId8"/>
    <p:sldId id="395" r:id="rId9"/>
    <p:sldId id="396" r:id="rId10"/>
    <p:sldId id="398" r:id="rId11"/>
    <p:sldId id="399" r:id="rId12"/>
    <p:sldId id="397" r:id="rId13"/>
    <p:sldId id="374" r:id="rId14"/>
    <p:sldId id="400"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showGuides="1">
      <p:cViewPr varScale="1">
        <p:scale>
          <a:sx n="69" d="100"/>
          <a:sy n="69" d="100"/>
        </p:scale>
        <p:origin x="52" y="6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329816-4D5E-3B44-810B-F5C416F14AE8}" type="slidenum">
              <a:rPr lang="en-US" smtClean="0"/>
              <a:t>13</a:t>
            </a:fld>
            <a:endParaRPr lang="en-US"/>
          </a:p>
        </p:txBody>
      </p:sp>
    </p:spTree>
    <p:extLst>
      <p:ext uri="{BB962C8B-B14F-4D97-AF65-F5344CB8AC3E}">
        <p14:creationId xmlns:p14="http://schemas.microsoft.com/office/powerpoint/2010/main" val="1634179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E0DA504A-D052-4F2D-906E-4CCCD67E5352}" type="datetime1">
              <a:rPr lang="en-IN" smtClean="0"/>
              <a:t>20-08-2026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FE8B550-430E-4E00-8584-398912EDCDA8}" type="datetime1">
              <a:rPr lang="en-IN" smtClean="0"/>
              <a:t>20-08-2026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F3515C1-FC0C-48DC-AA13-5A7440F04A46}" type="datetime1">
              <a:rPr lang="en-IN" smtClean="0"/>
              <a:t>20-08-2026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06C4A9D0-F765-45B1-928F-556B91D2C522}" type="datetime1">
              <a:rPr lang="en-IN" smtClean="0"/>
              <a:t>20-08-2026</a:t>
            </a:fld>
            <a:endParaRPr lang="en-US"/>
          </a:p>
        </p:txBody>
      </p:sp>
      <p:sp>
        <p:nvSpPr>
          <p:cNvPr id="8" name="Footer Placeholder 7"/>
          <p:cNvSpPr>
            <a:spLocks noGrp="1"/>
          </p:cNvSpPr>
          <p:nvPr>
            <p:ph type="ftr" sz="quarter" idx="11"/>
          </p:nvPr>
        </p:nvSpPr>
        <p:spPr/>
        <p:txBody>
          <a:bodyPr/>
          <a:lstStyle/>
          <a:p>
            <a:r>
              <a:rPr lang="en-US"/>
              <a:t>0th REVIEW           </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420E6F3-7E24-4BDE-BB37-BD18A6966701}" type="datetime1">
              <a:rPr lang="en-IN" smtClean="0"/>
              <a:t>20-08-2026</a:t>
            </a:fld>
            <a:endParaRPr lang="en-US"/>
          </a:p>
        </p:txBody>
      </p:sp>
      <p:sp>
        <p:nvSpPr>
          <p:cNvPr id="4" name="Footer Placeholder 3"/>
          <p:cNvSpPr>
            <a:spLocks noGrp="1"/>
          </p:cNvSpPr>
          <p:nvPr>
            <p:ph type="ftr" sz="quarter" idx="11"/>
          </p:nvPr>
        </p:nvSpPr>
        <p:spPr/>
        <p:txBody>
          <a:bodyPr/>
          <a:lstStyle/>
          <a:p>
            <a:r>
              <a:rPr lang="en-US"/>
              <a:t>0th REVIEW           </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113449-4DF0-4F1F-A3E4-097B1714C7C4}" type="datetime1">
              <a:rPr lang="en-IN" smtClean="0"/>
              <a:t>20-08-2026</a:t>
            </a:fld>
            <a:endParaRPr lang="en-US"/>
          </a:p>
        </p:txBody>
      </p:sp>
      <p:sp>
        <p:nvSpPr>
          <p:cNvPr id="3" name="Footer Placeholder 2"/>
          <p:cNvSpPr>
            <a:spLocks noGrp="1"/>
          </p:cNvSpPr>
          <p:nvPr>
            <p:ph type="ftr" sz="quarter" idx="11"/>
          </p:nvPr>
        </p:nvSpPr>
        <p:spPr/>
        <p:txBody>
          <a:bodyPr/>
          <a:lstStyle/>
          <a:p>
            <a:r>
              <a:rPr lang="en-US"/>
              <a:t>0th REVIEW           </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CF4166F-CD67-4CEB-8DD7-1E38016562AC}" type="datetime1">
              <a:rPr lang="en-IN" smtClean="0"/>
              <a:t>20-08-2026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8F83E-6F8A-4D66-8D97-D167DE305BE2}" type="datetime1">
              <a:rPr lang="en-IN" smtClean="0"/>
              <a:t>20-08-2026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8FA3A21-9775-4B2C-9B39-32116406212C}" type="datetime1">
              <a:rPr lang="en-IN" smtClean="0"/>
              <a:t>20-08-2026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43ABDC8-9AAF-4B62-9540-4EA826AA678B}" type="datetime1">
              <a:rPr lang="en-IN" smtClean="0"/>
              <a:t>20-08-2026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5F3821C3-0F1A-498D-9F2E-D10FACA35B86}" type="datetime1">
              <a:rPr lang="en-IN" smtClean="0"/>
              <a:t>20-08-2026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119A7DA-FCDD-43FA-8A0C-6A5B2B391695}" type="datetime1">
              <a:rPr lang="en-IN" smtClean="0"/>
              <a:t>20-08-2026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138D4BE-274D-4073-90F9-6DE45B427D7A}" type="datetime1">
              <a:rPr lang="en-IN" smtClean="0"/>
              <a:t>20-08-2026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C4DD2526-BF89-47C7-96E6-5B804E43EF11}" type="datetime1">
              <a:rPr lang="en-IN" smtClean="0"/>
              <a:t>20-08-2026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84827929-B24E-4CA0-A508-395AF785C673}" type="datetime1">
              <a:rPr lang="en-IN" smtClean="0"/>
              <a:t>20-08-2026</a:t>
            </a:fld>
            <a:endParaRPr lang="en-US"/>
          </a:p>
        </p:txBody>
      </p:sp>
      <p:sp>
        <p:nvSpPr>
          <p:cNvPr id="8" name="Footer Placeholder 7"/>
          <p:cNvSpPr>
            <a:spLocks noGrp="1"/>
          </p:cNvSpPr>
          <p:nvPr>
            <p:ph type="ftr" sz="quarter" idx="11"/>
          </p:nvPr>
        </p:nvSpPr>
        <p:spPr/>
        <p:txBody>
          <a:bodyPr/>
          <a:lstStyle/>
          <a:p>
            <a:r>
              <a:rPr lang="en-US"/>
              <a:t>0th REVIEW           </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20-08-2026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20-08-2026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b="1" dirty="0">
                <a:cs typeface="Arial" panose="020B0604020202020204" pitchFamily="34" charset="0"/>
              </a:rPr>
            </a:br>
            <a:br>
              <a:rPr lang="en-US" sz="2400" dirty="0">
                <a:latin typeface="+mn-lt"/>
                <a:cs typeface="Arial" panose="020B0604020202020204" pitchFamily="34" charset="0"/>
              </a:rPr>
            </a:br>
            <a:r>
              <a:rPr lang="en-US" altLang="en-US" sz="2400" dirty="0">
                <a:latin typeface="+mn-lt"/>
                <a:cs typeface="Arial" panose="020B0604020202020204" pitchFamily="34" charset="0"/>
              </a:rPr>
              <a:t>Intelligent Recruitment Platform with Database Systems and Backend Engineering</a:t>
            </a:r>
            <a:br>
              <a:rPr lang="en-US" sz="2400" dirty="0">
                <a:solidFill>
                  <a:srgbClr val="FF0000"/>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p:cNvSpPr>
            <a:spLocks noGrp="1"/>
          </p:cNvSpPr>
          <p:nvPr>
            <p:ph type="dt" sz="half" idx="10"/>
          </p:nvPr>
        </p:nvSpPr>
        <p:spPr/>
        <p:txBody>
          <a:bodyPr/>
          <a:lstStyle/>
          <a:p>
            <a:endParaRPr lang="en-US" dirty="0"/>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p:cNvSpPr>
            <a:spLocks noGrp="1"/>
          </p:cNvSpPr>
          <p:nvPr>
            <p:ph type="ftr" sz="quarter" idx="11"/>
          </p:nvPr>
        </p:nvSpPr>
        <p:spPr/>
        <p:txBody>
          <a:bodyPr/>
          <a:lstStyle/>
          <a:p>
            <a:r>
              <a:rPr lang="en-US" dirty="0">
                <a:solidFill>
                  <a:schemeClr val="bg1"/>
                </a:solidFill>
              </a:rPr>
              <a:t>0th REVIEW           </a:t>
            </a: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p:cNvGraphicFramePr>
            <a:graphicFrameLocks noGrp="1"/>
          </p:cNvGraphicFramePr>
          <p:nvPr/>
        </p:nvGraphicFramePr>
        <p:xfrm>
          <a:off x="2032000" y="1578727"/>
          <a:ext cx="8128000" cy="14833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US" altLang="en-US" dirty="0"/>
                        <a:t>VUNNAM VEDAPRIYA SRISAIKALA</a:t>
                      </a:r>
                    </a:p>
                  </a:txBody>
                  <a:tcPr/>
                </a:tc>
                <a:tc>
                  <a:txBody>
                    <a:bodyPr/>
                    <a:lstStyle/>
                    <a:p>
                      <a:r>
                        <a:rPr lang="en-IN" altLang="en-US" dirty="0"/>
                        <a:t>2520030376</a:t>
                      </a:r>
                    </a:p>
                  </a:txBody>
                  <a:tcPr/>
                </a:tc>
                <a:extLst>
                  <a:ext uri="{0D108BD9-81ED-4DB2-BD59-A6C34878D82A}">
                    <a16:rowId xmlns:a16="http://schemas.microsoft.com/office/drawing/2014/main" val="10000"/>
                  </a:ext>
                </a:extLst>
              </a:tr>
              <a:tr h="370840">
                <a:tc>
                  <a:txBody>
                    <a:bodyPr/>
                    <a:lstStyle/>
                    <a:p>
                      <a:r>
                        <a:rPr lang="en-IN" altLang="en-US" dirty="0"/>
                        <a:t>NALLA TEJASRI</a:t>
                      </a:r>
                    </a:p>
                  </a:txBody>
                  <a:tcPr/>
                </a:tc>
                <a:tc>
                  <a:txBody>
                    <a:bodyPr/>
                    <a:lstStyle/>
                    <a:p>
                      <a:r>
                        <a:rPr lang="en-IN" altLang="en-US" dirty="0"/>
                        <a:t>2520030132</a:t>
                      </a:r>
                    </a:p>
                  </a:txBody>
                  <a:tcPr/>
                </a:tc>
                <a:extLst>
                  <a:ext uri="{0D108BD9-81ED-4DB2-BD59-A6C34878D82A}">
                    <a16:rowId xmlns:a16="http://schemas.microsoft.com/office/drawing/2014/main" val="10001"/>
                  </a:ext>
                </a:extLst>
              </a:tr>
              <a:tr h="370840">
                <a:tc>
                  <a:txBody>
                    <a:bodyPr/>
                    <a:lstStyle/>
                    <a:p>
                      <a:r>
                        <a:rPr lang="en-US" altLang="en-US" dirty="0"/>
                        <a:t>SHETTENI TEJA</a:t>
                      </a:r>
                    </a:p>
                  </a:txBody>
                  <a:tcPr/>
                </a:tc>
                <a:tc>
                  <a:txBody>
                    <a:bodyPr/>
                    <a:lstStyle/>
                    <a:p>
                      <a:r>
                        <a:rPr lang="en-IN" altLang="en-US" dirty="0"/>
                        <a:t>2520030419</a:t>
                      </a:r>
                    </a:p>
                  </a:txBody>
                  <a:tcPr/>
                </a:tc>
                <a:extLst>
                  <a:ext uri="{0D108BD9-81ED-4DB2-BD59-A6C34878D82A}">
                    <a16:rowId xmlns:a16="http://schemas.microsoft.com/office/drawing/2014/main" val="10002"/>
                  </a:ext>
                </a:extLst>
              </a:tr>
              <a:tr h="370840">
                <a:tc>
                  <a:txBody>
                    <a:bodyPr/>
                    <a:lstStyle/>
                    <a:p>
                      <a:pPr>
                        <a:buNone/>
                      </a:pPr>
                      <a:r>
                        <a:rPr lang="en-US" altLang="en-US" dirty="0"/>
                        <a:t>BURLLA CHENNA MALLESWAR REDDY</a:t>
                      </a:r>
                    </a:p>
                  </a:txBody>
                  <a:tcPr/>
                </a:tc>
                <a:tc>
                  <a:txBody>
                    <a:bodyPr/>
                    <a:lstStyle/>
                    <a:p>
                      <a:pPr>
                        <a:buNone/>
                      </a:pPr>
                      <a:r>
                        <a:rPr lang="en-US" altLang="en-US" dirty="0"/>
                        <a:t>2520030546</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484" y="60709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p:cNvGraphicFramePr>
            <a:graphicFrameLocks noGrp="1"/>
          </p:cNvGraphicFramePr>
          <p:nvPr>
            <p:ph idx="1"/>
          </p:nvPr>
        </p:nvGraphicFramePr>
        <p:xfrm>
          <a:off x="838199" y="1416193"/>
          <a:ext cx="10515600" cy="2947670"/>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29841">
                <a:tc>
                  <a:txBody>
                    <a:bodyPr/>
                    <a:lstStyle/>
                    <a:p>
                      <a:r>
                        <a:rPr lang="en-US" altLang="en-US" sz="1800" dirty="0">
                          <a:sym typeface="+mn-ea"/>
                        </a:rPr>
                        <a:t>VUNNAM VEDAPRIYA SRISAIKALA</a:t>
                      </a:r>
                      <a:endParaRPr lang="en-US" altLang="en-US" sz="1800" dirty="0"/>
                    </a:p>
                    <a:p>
                      <a:endParaRPr lang="en-I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tLang="en-US" dirty="0"/>
                        <a:t>2520030376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29841">
                <a:tc>
                  <a:txBody>
                    <a:bodyPr/>
                    <a:lstStyle/>
                    <a:p>
                      <a:r>
                        <a:rPr lang="en-IN" altLang="en-US" dirty="0"/>
                        <a:t>NALLA TEJASRI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tLang="en-US" dirty="0"/>
                        <a:t>2520030132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29841">
                <a:tc>
                  <a:txBody>
                    <a:bodyPr/>
                    <a:lstStyle/>
                    <a:p>
                      <a:r>
                        <a:rPr lang="en-US" altLang="en-US" dirty="0"/>
                        <a:t>SHETTENI TEJA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tLang="en-US" dirty="0"/>
                        <a:t>2520030419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29841">
                <a:tc>
                  <a:txBody>
                    <a:bodyPr/>
                    <a:lstStyle/>
                    <a:p>
                      <a:pPr>
                        <a:buNone/>
                      </a:pPr>
                      <a:r>
                        <a:rPr lang="en-US" altLang="en-US" dirty="0"/>
                        <a:t>BURLLA CHENNA MALLESWAR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en-US" dirty="0"/>
                        <a:t>2520030546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p:cNvSpPr>
            <a:spLocks noGrp="1"/>
          </p:cNvSpPr>
          <p:nvPr>
            <p:ph idx="1"/>
          </p:nvPr>
        </p:nvSpPr>
        <p:spPr/>
        <p:txBody>
          <a:bodyPr>
            <a:normAutofit fontScale="60000"/>
          </a:bodyPr>
          <a:lstStyle/>
          <a:p>
            <a:pPr marL="0" indent="0">
              <a:buNone/>
            </a:pPr>
            <a:r>
              <a:rPr lang="en-US" altLang="en-US" sz="2665" dirty="0">
                <a:latin typeface="Times New Roman" panose="02020603050405020304" charset="0"/>
                <a:cs typeface="Times New Roman" panose="02020603050405020304" charset="0"/>
              </a:rPr>
              <a:t>The Intelligent Recruitment Platform is a database-driven software system designed to simplify and improve the recruitment process for organizations and job seekers. Traditional recruitment processes often involve manual resume screening, maintaining candidate information in separate files, communicating with applicants through different platforms, and tracking job applications manually. These activities can consume significant time and may result in data duplication, delays, and difficulty in managing large amounts of recruitment information.</a:t>
            </a:r>
          </a:p>
          <a:p>
            <a:endParaRPr lang="en-US" altLang="en-US" sz="2665" dirty="0">
              <a:latin typeface="Times New Roman" panose="02020603050405020304" charset="0"/>
              <a:cs typeface="Times New Roman" panose="02020603050405020304" charset="0"/>
            </a:endParaRPr>
          </a:p>
          <a:p>
            <a:pPr marL="0" indent="0">
              <a:buNone/>
            </a:pPr>
            <a:r>
              <a:rPr lang="en-US" altLang="en-US" sz="2665" dirty="0">
                <a:latin typeface="Times New Roman" panose="02020603050405020304" charset="0"/>
                <a:cs typeface="Times New Roman" panose="02020603050405020304" charset="0"/>
              </a:rPr>
              <a:t>The proposed platform provides a centralized system for managing job postings, candidate profiles, resumes, applications, recruiters, interviews, and recruitment status. The system uses a structured database to store and organize recruitment-related information efficiently. A backend application handles business logic, authentication, data processing, job management, application processing, and communication between the user interface and database.</a:t>
            </a:r>
          </a:p>
          <a:p>
            <a:endParaRPr lang="en-US" altLang="en-US" sz="2665" dirty="0">
              <a:latin typeface="Times New Roman" panose="02020603050405020304" charset="0"/>
              <a:cs typeface="Times New Roman" panose="02020603050405020304" charset="0"/>
            </a:endParaRPr>
          </a:p>
          <a:p>
            <a:pPr marL="0" indent="0">
              <a:buNone/>
            </a:pPr>
            <a:r>
              <a:rPr lang="en-US" altLang="en-US" sz="2665" dirty="0">
                <a:latin typeface="Times New Roman" panose="02020603050405020304" charset="0"/>
                <a:cs typeface="Times New Roman" panose="02020603050405020304" charset="0"/>
              </a:rPr>
              <a:t>The platform aims to provide a faster, more organized, and reliable recruitment workflow. It can help recruiters identify suitable candidates efficiently while allowing applicants to search for jobs, maintain their profiles, submit applications, and track their application status. The system also provides better data consistency, security, and scalability through proper database design and backend engineering.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p:cNvSpPr>
            <a:spLocks noGrp="1"/>
          </p:cNvSpPr>
          <p:nvPr>
            <p:ph idx="1"/>
          </p:nvPr>
        </p:nvSpPr>
        <p:spPr/>
        <p:txBody>
          <a:bodyPr>
            <a:noAutofit/>
          </a:bodyPr>
          <a:lstStyle/>
          <a:p>
            <a:pPr marL="0" indent="0">
              <a:buNone/>
            </a:pPr>
            <a:r>
              <a:rPr lang="en-US" altLang="en-US" sz="1600" dirty="0">
                <a:latin typeface="Times New Roman" panose="02020603050405020304" charset="0"/>
                <a:cs typeface="Times New Roman" panose="02020603050405020304" charset="0"/>
              </a:rPr>
              <a:t>Recruitment is an important process for every organization because selecting the right candidate directly affects productivity and business performance. In conventional recruitment systems, recruiters may need to handle large numbers of resumes, job applications, candidate details, interview schedules, and selection records manually or through multiple disconnected systems. Managing this information becomes difficult when the number of applicants and job openings increases.</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The Intelligent Recruitment Platform is proposed to provide a centralized and systematic solution for recruitment management. The platform connects candidates and recruiters through a single application where job-related information can be created, stored, searched, updated, and managed efficiently.</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The system uses database systems and backend engineering as its core components. The database maintains candidate, recruiter, job, application, and interview information in an organized manner. The backend manages authentication, validation, application processing, business rules, and database communication.</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By automating important recruitment activities, the proposed system can reduce manual effort, improve information accuracy, provide faster access to candidate data, and make the overall recruitment process more efficient.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p:cNvSpPr>
            <a:spLocks noGrp="1"/>
          </p:cNvSpPr>
          <p:nvPr>
            <p:ph idx="1"/>
          </p:nvPr>
        </p:nvSpPr>
        <p:spPr/>
        <p:txBody>
          <a:bodyPr>
            <a:noAutofit/>
          </a:bodyPr>
          <a:lstStyle/>
          <a:p>
            <a:r>
              <a:rPr lang="en-US" altLang="en-US" sz="1600" dirty="0">
                <a:latin typeface="Times New Roman" panose="02020603050405020304" charset="0"/>
                <a:cs typeface="Times New Roman" panose="02020603050405020304" charset="0"/>
              </a:rPr>
              <a:t>In many traditional recruitment systems, job vacancies and candidate information are managed using separate files, spreadsheets, emails, or independent recruitment platforms. Recruiters often have to manually collect resumes, review candidate information, shortlist applicants, schedule interviews, and update selection status.</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Such systems can create several difficulties when a large number of candidates apply for multiple job positions. Searching for a particular candidate or application may take considerable time. Duplicate records may also be created when information is entered repeatedly. Maintaining application status manually can result in outdated or inconsistent information.</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Another limitation is the lack of proper integration between different recruitment activities. Job posting, candidate management, application tracking, interview scheduling, and selection records may not be connected through a single centralized database.</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Therefore, the existing approach can become time-consuming, difficult to maintain, less organized, and inefficient for large-scale recruitment operations.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p:cNvSpPr>
            <a:spLocks noGrp="1"/>
          </p:cNvSpPr>
          <p:nvPr>
            <p:ph idx="1"/>
          </p:nvPr>
        </p:nvSpPr>
        <p:spPr>
          <a:xfrm>
            <a:off x="514985" y="1253490"/>
            <a:ext cx="10515600" cy="5271770"/>
          </a:xfrm>
        </p:spPr>
        <p:txBody>
          <a:bodyPr>
            <a:noAutofit/>
          </a:bodyPr>
          <a:lstStyle/>
          <a:p>
            <a:pPr marL="0" indent="0">
              <a:buNone/>
            </a:pPr>
            <a:r>
              <a:rPr lang="en-US" altLang="en-US" sz="1600" dirty="0">
                <a:latin typeface="Times New Roman" panose="02020603050405020304" charset="0"/>
                <a:cs typeface="Times New Roman" panose="02020603050405020304" charset="0"/>
              </a:rPr>
              <a:t>The recruitment process involves managing a large amount of information related to candidates, job openings, resumes, applications, recruiters, interviews, and selection decisions. When this information is handled manually or through disconnected systems, several problems can occur.</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Major problems include:</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Large amounts of candidate information are difficult to manage manually.</a:t>
            </a:r>
          </a:p>
          <a:p>
            <a:r>
              <a:rPr lang="en-US" altLang="en-US" sz="1600" dirty="0">
                <a:latin typeface="Times New Roman" panose="02020603050405020304" charset="0"/>
                <a:cs typeface="Times New Roman" panose="02020603050405020304" charset="0"/>
              </a:rPr>
              <a:t>Recruiters spend significant time reviewing and organizing applications.</a:t>
            </a:r>
          </a:p>
          <a:p>
            <a:r>
              <a:rPr lang="en-US" altLang="en-US" sz="1600" dirty="0">
                <a:latin typeface="Times New Roman" panose="02020603050405020304" charset="0"/>
                <a:cs typeface="Times New Roman" panose="02020603050405020304" charset="0"/>
              </a:rPr>
              <a:t>Candidate information may be duplicated or stored inconsistently.</a:t>
            </a:r>
          </a:p>
          <a:p>
            <a:r>
              <a:rPr lang="en-US" altLang="en-US" sz="1600" dirty="0">
                <a:latin typeface="Times New Roman" panose="02020603050405020304" charset="0"/>
                <a:cs typeface="Times New Roman" panose="02020603050405020304" charset="0"/>
              </a:rPr>
              <a:t>Tracking application status can become difficult.</a:t>
            </a:r>
          </a:p>
          <a:p>
            <a:r>
              <a:rPr lang="en-US" altLang="en-US" sz="1600" dirty="0">
                <a:latin typeface="Times New Roman" panose="02020603050405020304" charset="0"/>
                <a:cs typeface="Times New Roman" panose="02020603050405020304" charset="0"/>
              </a:rPr>
              <a:t>Searching for suitable candidates may take considerable time.</a:t>
            </a:r>
          </a:p>
          <a:p>
            <a:r>
              <a:rPr lang="en-US" altLang="en-US" sz="1600" dirty="0">
                <a:latin typeface="Times New Roman" panose="02020603050405020304" charset="0"/>
                <a:cs typeface="Times New Roman" panose="02020603050405020304" charset="0"/>
              </a:rPr>
              <a:t>Communication between recruiters and candidates may not be centralized.</a:t>
            </a:r>
          </a:p>
          <a:p>
            <a:r>
              <a:rPr lang="en-US" altLang="en-US" sz="1600" dirty="0">
                <a:latin typeface="Times New Roman" panose="02020603050405020304" charset="0"/>
                <a:cs typeface="Times New Roman" panose="02020603050405020304" charset="0"/>
              </a:rPr>
              <a:t>Interview schedules can be difficult to manage.</a:t>
            </a:r>
          </a:p>
          <a:p>
            <a:r>
              <a:rPr lang="en-US" altLang="en-US" sz="1600" dirty="0">
                <a:latin typeface="Times New Roman" panose="02020603050405020304" charset="0"/>
                <a:cs typeface="Times New Roman" panose="02020603050405020304" charset="0"/>
              </a:rPr>
              <a:t>Manual data entry can lead to errors.</a:t>
            </a:r>
          </a:p>
          <a:p>
            <a:r>
              <a:rPr lang="en-US" altLang="en-US" sz="1600" dirty="0">
                <a:latin typeface="Times New Roman" panose="02020603050405020304" charset="0"/>
                <a:cs typeface="Times New Roman" panose="02020603050405020304" charset="0"/>
              </a:rPr>
              <a:t>Generating recruitment-related reports becomes difficult.</a:t>
            </a:r>
          </a:p>
          <a:p>
            <a:r>
              <a:rPr lang="en-US" altLang="en-US" sz="1600" dirty="0">
                <a:latin typeface="Times New Roman" panose="02020603050405020304" charset="0"/>
                <a:cs typeface="Times New Roman" panose="02020603050405020304" charset="0"/>
              </a:rPr>
              <a:t>Maintaining secure and consistent recruitment records is challenging.</a:t>
            </a:r>
          </a:p>
          <a:p>
            <a:endParaRPr lang="en-US" altLang="en-US" sz="1600" dirty="0">
              <a:latin typeface="Times New Roman" panose="02020603050405020304" charset="0"/>
              <a:cs typeface="Times New Roman" panose="02020603050405020304" charset="0"/>
            </a:endParaRPr>
          </a:p>
          <a:p>
            <a:endParaRPr lang="en-US" altLang="en-US" sz="1600" dirty="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p:cNvSpPr>
            <a:spLocks noGrp="1"/>
          </p:cNvSpPr>
          <p:nvPr>
            <p:ph idx="1"/>
          </p:nvPr>
        </p:nvSpPr>
        <p:spPr/>
        <p:txBody>
          <a:bodyPr>
            <a:normAutofit fontScale="50000"/>
          </a:bodyPr>
          <a:lstStyle/>
          <a:p>
            <a:r>
              <a:rPr lang="en-US" altLang="en-US" sz="3200" dirty="0">
                <a:latin typeface="Times New Roman" panose="02020603050405020304" charset="0"/>
                <a:cs typeface="Times New Roman" panose="02020603050405020304" charset="0"/>
              </a:rPr>
              <a:t>The proposed Intelligent Recruitment Platform provides an integrated solution for managing the complete recruitment workflow. The system maintains recruitment data in a centralized database and uses backend services to process requests and enforce application-level business rules.</a:t>
            </a:r>
          </a:p>
          <a:p>
            <a:endParaRPr lang="en-US" altLang="en-US" sz="3200" dirty="0">
              <a:latin typeface="Times New Roman" panose="02020603050405020304" charset="0"/>
              <a:cs typeface="Times New Roman" panose="02020603050405020304" charset="0"/>
            </a:endParaRPr>
          </a:p>
          <a:p>
            <a:r>
              <a:rPr lang="en-US" altLang="en-US" sz="3200" dirty="0">
                <a:latin typeface="Times New Roman" panose="02020603050405020304" charset="0"/>
                <a:cs typeface="Times New Roman" panose="02020603050405020304" charset="0"/>
              </a:rPr>
              <a:t>Candidates can create their profiles, upload or maintain resume information, search for available job opportunities, and apply for suitable positions. Recruiters can create job postings, view applications, examine candidate profiles, shortlist candidates, and update recruitment status.</a:t>
            </a:r>
          </a:p>
          <a:p>
            <a:endParaRPr lang="en-US" altLang="en-US" sz="3200" dirty="0">
              <a:latin typeface="Times New Roman" panose="02020603050405020304" charset="0"/>
              <a:cs typeface="Times New Roman" panose="02020603050405020304" charset="0"/>
            </a:endParaRPr>
          </a:p>
          <a:p>
            <a:r>
              <a:rPr lang="en-US" altLang="en-US" sz="3200" dirty="0">
                <a:latin typeface="Times New Roman" panose="02020603050405020304" charset="0"/>
                <a:cs typeface="Times New Roman" panose="02020603050405020304" charset="0"/>
              </a:rPr>
              <a:t>The backend acts as the main communication layer between the user interface and database. It validates user inputs, performs authentication, processes job and application requests, and manages database operations. Proper database relationships are used to connect candidates, jobs, applications, recruiters, and interviews.</a:t>
            </a:r>
          </a:p>
          <a:p>
            <a:endParaRPr lang="en-US" altLang="en-US" sz="3200" dirty="0">
              <a:latin typeface="Times New Roman" panose="02020603050405020304" charset="0"/>
              <a:cs typeface="Times New Roman" panose="02020603050405020304" charset="0"/>
            </a:endParaRPr>
          </a:p>
          <a:p>
            <a:r>
              <a:rPr lang="en-US" altLang="en-US" sz="3200" dirty="0">
                <a:latin typeface="Times New Roman" panose="02020603050405020304" charset="0"/>
                <a:cs typeface="Times New Roman" panose="02020603050405020304" charset="0"/>
              </a:rPr>
              <a:t>The major contribution of the proposed system is the integration of database management, backend engineering, recruitment workflow automation, and centralized information management into one platform. This can improve efficiency, reduce repetitive manual work, and provide a more organized recruitment experience.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p:cNvSpPr>
            <a:spLocks noGrp="1"/>
          </p:cNvSpPr>
          <p:nvPr>
            <p:ph idx="1"/>
          </p:nvPr>
        </p:nvSpPr>
        <p:spPr>
          <a:xfrm>
            <a:off x="838200" y="1512570"/>
            <a:ext cx="10515600" cy="5345430"/>
          </a:xfrm>
        </p:spPr>
        <p:txBody>
          <a:bodyPr>
            <a:noAutofit/>
          </a:bodyPr>
          <a:lstStyle/>
          <a:p>
            <a:pPr marL="0" indent="0">
              <a:buNone/>
            </a:pPr>
            <a:r>
              <a:rPr lang="en-US" altLang="en-US" sz="1600" dirty="0">
                <a:latin typeface="Times New Roman" panose="02020603050405020304" charset="0"/>
                <a:cs typeface="Times New Roman" panose="02020603050405020304" charset="0"/>
              </a:rPr>
              <a:t>The main objective of the project is to develop an intelligent and centralized recruitment platform that simplifies the interaction between candidates and recruiters while efficiently managing recruitment data.</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Specific objectives are:</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To develop a centralized platform for managing recruitment activities.</a:t>
            </a:r>
          </a:p>
          <a:p>
            <a:r>
              <a:rPr lang="en-US" altLang="en-US" sz="1600" dirty="0">
                <a:latin typeface="Times New Roman" panose="02020603050405020304" charset="0"/>
                <a:cs typeface="Times New Roman" panose="02020603050405020304" charset="0"/>
              </a:rPr>
              <a:t>To maintain candidate information using a structured database.</a:t>
            </a:r>
          </a:p>
          <a:p>
            <a:r>
              <a:rPr lang="en-US" altLang="en-US" sz="1600" dirty="0">
                <a:latin typeface="Times New Roman" panose="02020603050405020304" charset="0"/>
                <a:cs typeface="Times New Roman" panose="02020603050405020304" charset="0"/>
              </a:rPr>
              <a:t>To provide recruiters with an efficient job posting and application management system.</a:t>
            </a:r>
          </a:p>
          <a:p>
            <a:r>
              <a:rPr lang="en-US" altLang="en-US" sz="1600" dirty="0">
                <a:latin typeface="Times New Roman" panose="02020603050405020304" charset="0"/>
                <a:cs typeface="Times New Roman" panose="02020603050405020304" charset="0"/>
              </a:rPr>
              <a:t>To allow candidates to search and apply for suitable job opportunities.</a:t>
            </a:r>
          </a:p>
          <a:p>
            <a:r>
              <a:rPr lang="en-US" altLang="en-US" sz="1600" dirty="0">
                <a:latin typeface="Times New Roman" panose="02020603050405020304" charset="0"/>
                <a:cs typeface="Times New Roman" panose="02020603050405020304" charset="0"/>
              </a:rPr>
              <a:t>To provide secure user authentication and role-based access.</a:t>
            </a:r>
          </a:p>
          <a:p>
            <a:r>
              <a:rPr lang="en-US" altLang="en-US" sz="1600" dirty="0">
                <a:latin typeface="Times New Roman" panose="02020603050405020304" charset="0"/>
                <a:cs typeface="Times New Roman" panose="02020603050405020304" charset="0"/>
              </a:rPr>
              <a:t>To maintain application status and recruitment history systematically.</a:t>
            </a:r>
          </a:p>
          <a:p>
            <a:r>
              <a:rPr lang="en-US" altLang="en-US" sz="1600" dirty="0">
                <a:latin typeface="Times New Roman" panose="02020603050405020304" charset="0"/>
                <a:cs typeface="Times New Roman" panose="02020603050405020304" charset="0"/>
              </a:rPr>
              <a:t>To reduce manual data entry and repetitive recruitment activities.</a:t>
            </a:r>
          </a:p>
          <a:p>
            <a:r>
              <a:rPr lang="en-US" altLang="en-US" sz="1600" dirty="0">
                <a:latin typeface="Times New Roman" panose="02020603050405020304" charset="0"/>
                <a:cs typeface="Times New Roman" panose="02020603050405020304" charset="0"/>
              </a:rPr>
              <a:t>To provide efficient searching and retrieval of candidate and job information.</a:t>
            </a:r>
          </a:p>
          <a:p>
            <a:r>
              <a:rPr lang="en-US" altLang="en-US" sz="1600" dirty="0">
                <a:latin typeface="Times New Roman" panose="02020603050405020304" charset="0"/>
                <a:cs typeface="Times New Roman" panose="02020603050405020304" charset="0"/>
              </a:rPr>
              <a:t>To design a reliable backend for handling recruitment-related operations.</a:t>
            </a:r>
          </a:p>
          <a:p>
            <a:r>
              <a:rPr lang="en-US" altLang="en-US" sz="1600" dirty="0">
                <a:latin typeface="Times New Roman" panose="02020603050405020304" charset="0"/>
                <a:cs typeface="Times New Roman" panose="02020603050405020304" charset="0"/>
              </a:rPr>
              <a:t>To improve data consistency, security, scalability, and overall system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3995"/>
            <a:ext cx="10515600" cy="1325563"/>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p:cNvSpPr>
            <a:spLocks noGrp="1"/>
          </p:cNvSpPr>
          <p:nvPr>
            <p:ph idx="1"/>
          </p:nvPr>
        </p:nvSpPr>
        <p:spPr>
          <a:xfrm>
            <a:off x="737235" y="1350010"/>
            <a:ext cx="10515600" cy="5278755"/>
          </a:xfrm>
        </p:spPr>
        <p:txBody>
          <a:bodyPr>
            <a:normAutofit fontScale="25000"/>
          </a:bodyPr>
          <a:lstStyle/>
          <a:p>
            <a:pPr marL="0" indent="0">
              <a:buNone/>
            </a:pPr>
            <a:r>
              <a:rPr lang="en-US" altLang="en-US" sz="6400" dirty="0">
                <a:latin typeface="Times New Roman" panose="02020603050405020304" charset="0"/>
                <a:cs typeface="Times New Roman" panose="02020603050405020304" charset="0"/>
              </a:rPr>
              <a:t>1. User Authentication Module</a:t>
            </a:r>
          </a:p>
          <a:p>
            <a:pPr marL="0" indent="0">
              <a:buNone/>
            </a:pPr>
            <a:r>
              <a:rPr lang="en-US" altLang="en-US" sz="6400" dirty="0">
                <a:latin typeface="Times New Roman" panose="02020603050405020304" charset="0"/>
                <a:cs typeface="Times New Roman" panose="02020603050405020304" charset="0"/>
              </a:rPr>
              <a:t>This module manages registration and login for candidates and recruiters. It provides authentication and ensures that users can access features according to their roles.</a:t>
            </a:r>
          </a:p>
          <a:p>
            <a:endParaRPr lang="en-US" altLang="en-US" sz="6400" dirty="0">
              <a:latin typeface="Times New Roman" panose="02020603050405020304" charset="0"/>
              <a:cs typeface="Times New Roman" panose="02020603050405020304" charset="0"/>
            </a:endParaRPr>
          </a:p>
          <a:p>
            <a:pPr marL="0" indent="0">
              <a:buNone/>
            </a:pPr>
            <a:r>
              <a:rPr lang="en-US" altLang="en-US" sz="6400" dirty="0">
                <a:latin typeface="Times New Roman" panose="02020603050405020304" charset="0"/>
                <a:cs typeface="Times New Roman" panose="02020603050405020304" charset="0"/>
              </a:rPr>
              <a:t>2. Candidate Management Module</a:t>
            </a:r>
          </a:p>
          <a:p>
            <a:pPr marL="0" indent="0">
              <a:buNone/>
            </a:pPr>
            <a:r>
              <a:rPr lang="en-US" altLang="en-US" sz="6400" dirty="0">
                <a:latin typeface="Times New Roman" panose="02020603050405020304" charset="0"/>
                <a:cs typeface="Times New Roman" panose="02020603050405020304" charset="0"/>
              </a:rPr>
              <a:t>Candidates can create and update their profiles by providing personal details, educational qualifications, technical skills, experience, and resume information.</a:t>
            </a:r>
          </a:p>
          <a:p>
            <a:endParaRPr lang="en-US" altLang="en-US" sz="6400" dirty="0">
              <a:latin typeface="Times New Roman" panose="02020603050405020304" charset="0"/>
              <a:cs typeface="Times New Roman" panose="02020603050405020304" charset="0"/>
            </a:endParaRPr>
          </a:p>
          <a:p>
            <a:pPr marL="0" indent="0">
              <a:buNone/>
            </a:pPr>
            <a:r>
              <a:rPr lang="en-US" altLang="en-US" sz="6400" dirty="0">
                <a:latin typeface="Times New Roman" panose="02020603050405020304" charset="0"/>
                <a:cs typeface="Times New Roman" panose="02020603050405020304" charset="0"/>
              </a:rPr>
              <a:t>3. Recruiter Management Module</a:t>
            </a:r>
          </a:p>
          <a:p>
            <a:pPr marL="0" indent="0">
              <a:buNone/>
            </a:pPr>
            <a:r>
              <a:rPr lang="en-US" altLang="en-US" sz="6400" dirty="0">
                <a:latin typeface="Times New Roman" panose="02020603050405020304" charset="0"/>
                <a:cs typeface="Times New Roman" panose="02020603050405020304" charset="0"/>
              </a:rPr>
              <a:t>Recruiters can manage their organization information, create job opportunities, view applications, and manage candidates during the recruitment process.</a:t>
            </a:r>
          </a:p>
          <a:p>
            <a:endParaRPr lang="en-US" altLang="en-US" sz="6400" dirty="0">
              <a:latin typeface="Times New Roman" panose="02020603050405020304" charset="0"/>
              <a:cs typeface="Times New Roman" panose="02020603050405020304" charset="0"/>
            </a:endParaRPr>
          </a:p>
          <a:p>
            <a:pPr marL="0" indent="0">
              <a:buNone/>
            </a:pPr>
            <a:r>
              <a:rPr lang="en-US" altLang="en-US" sz="6400" dirty="0">
                <a:latin typeface="Times New Roman" panose="02020603050405020304" charset="0"/>
                <a:cs typeface="Times New Roman" panose="02020603050405020304" charset="0"/>
              </a:rPr>
              <a:t>4. Job Management Module</a:t>
            </a:r>
          </a:p>
          <a:p>
            <a:pPr marL="0" indent="0">
              <a:buNone/>
            </a:pPr>
            <a:r>
              <a:rPr lang="en-US" altLang="en-US" sz="6400" dirty="0">
                <a:latin typeface="Times New Roman" panose="02020603050405020304" charset="0"/>
                <a:cs typeface="Times New Roman" panose="02020603050405020304" charset="0"/>
              </a:rPr>
              <a:t>This module allows recruiters to create, update, and manage job postings. Candidates can search available jobs based on different requirements.</a:t>
            </a:r>
          </a:p>
          <a:p>
            <a:endParaRPr lang="en-US" altLang="en-US" sz="6400" dirty="0">
              <a:latin typeface="Times New Roman" panose="02020603050405020304" charset="0"/>
              <a:cs typeface="Times New Roman" panose="02020603050405020304" charset="0"/>
            </a:endParaRPr>
          </a:p>
          <a:p>
            <a:pPr marL="0" indent="0">
              <a:buNone/>
            </a:pPr>
            <a:endParaRPr lang="en-US" altLang="en-US" sz="6400" dirty="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7235" y="1076960"/>
            <a:ext cx="10515600" cy="4968240"/>
          </a:xfrm>
        </p:spPr>
        <p:txBody>
          <a:bodyPr>
            <a:noAutofit/>
          </a:bodyPr>
          <a:lstStyle/>
          <a:p>
            <a:pPr marL="0" indent="0">
              <a:buNone/>
            </a:pPr>
            <a:r>
              <a:rPr lang="en-US" altLang="en-US" sz="1600">
                <a:latin typeface="Times New Roman" panose="02020603050405020304" charset="0"/>
                <a:cs typeface="Times New Roman" panose="02020603050405020304" charset="0"/>
              </a:rPr>
              <a:t>5.</a:t>
            </a:r>
            <a:r>
              <a:rPr lang="en-IN" altLang="en-US"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Application Management Module</a:t>
            </a:r>
          </a:p>
          <a:p>
            <a:pPr marL="0" indent="0">
              <a:buNone/>
            </a:pPr>
            <a:r>
              <a:rPr lang="en-US" altLang="en-US" sz="1600">
                <a:latin typeface="Times New Roman" panose="02020603050405020304" charset="0"/>
                <a:cs typeface="Times New Roman" panose="02020603050405020304" charset="0"/>
              </a:rPr>
              <a:t>Candidates can apply for jobs, while recruiters can view applications and update the application status such as applied, shortlisted, interview scheduled, selected, or rejected.</a:t>
            </a:r>
          </a:p>
          <a:p>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6. Interview Management Module</a:t>
            </a:r>
          </a:p>
          <a:p>
            <a:pPr marL="0" indent="0">
              <a:buNone/>
            </a:pPr>
            <a:r>
              <a:rPr lang="en-US" altLang="en-US" sz="1600">
                <a:latin typeface="Times New Roman" panose="02020603050405020304" charset="0"/>
                <a:cs typeface="Times New Roman" panose="02020603050405020304" charset="0"/>
              </a:rPr>
              <a:t>This module helps recruiters manage interview schedules, candidate details, interview dates, and interview status.</a:t>
            </a:r>
          </a:p>
          <a:p>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7. Database Management Module</a:t>
            </a:r>
          </a:p>
          <a:p>
            <a:pPr marL="0" indent="0">
              <a:buNone/>
            </a:pPr>
            <a:r>
              <a:rPr lang="en-US" altLang="en-US" sz="1600">
                <a:latin typeface="Times New Roman" panose="02020603050405020304" charset="0"/>
                <a:cs typeface="Times New Roman" panose="02020603050405020304" charset="0"/>
              </a:rPr>
              <a:t>This module stores and manages information related to users, candidates, recruiters, jobs, applications, interviews, and other recruitment records using a structured relational database.</a:t>
            </a:r>
          </a:p>
          <a:p>
            <a:pPr marL="0" indent="0">
              <a:buNone/>
            </a:pP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8. Search and Filtering Module</a:t>
            </a:r>
          </a:p>
          <a:p>
            <a:pPr marL="0" indent="0">
              <a:buNone/>
            </a:pPr>
            <a:r>
              <a:rPr lang="en-US" altLang="en-US" sz="1600">
                <a:latin typeface="Times New Roman" panose="02020603050405020304" charset="0"/>
                <a:cs typeface="Times New Roman" panose="02020603050405020304" charset="0"/>
              </a:rPr>
              <a:t>The system can provide searching and filtering options to help recruiters find candidates and candidates identify relevant job opportunities more efficiently.</a:t>
            </a:r>
          </a:p>
        </p:txBody>
      </p:sp>
      <p:sp>
        <p:nvSpPr>
          <p:cNvPr id="4" name="Date Placeholder 3"/>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11</a:t>
            </a:fld>
            <a:endParaRPr lang="en-US"/>
          </a:p>
        </p:txBody>
      </p:sp>
      <p:graphicFrame>
        <p:nvGraphicFramePr>
          <p:cNvPr id="8" name="Content Placeholder 7"/>
          <p:cNvGraphicFramePr>
            <a:graphicFrameLocks noGrp="1"/>
          </p:cNvGraphicFramePr>
          <p:nvPr>
            <p:ph idx="1"/>
            <p:custDataLst>
              <p:tags r:id="rId1"/>
            </p:custDataLst>
          </p:nvPr>
        </p:nvGraphicFramePr>
        <p:xfrm>
          <a:off x="838200" y="1825625"/>
          <a:ext cx="10515600" cy="489585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51790">
                <a:tc>
                  <a:txBody>
                    <a:bodyPr/>
                    <a:lstStyle/>
                    <a:p>
                      <a:r>
                        <a:rPr sz="1600">
                          <a:latin typeface="Times New Roman" panose="02020603050405020304" charset="0"/>
                          <a:cs typeface="Times New Roman" panose="02020603050405020304" charset="0"/>
                        </a:rPr>
                        <a:t>Category</a:t>
                      </a:r>
                    </a:p>
                  </a:txBody>
                  <a:tcPr marL="0" marR="0" marT="0" marB="0" anchor="ctr"/>
                </a:tc>
                <a:tc>
                  <a:txBody>
                    <a:bodyPr/>
                    <a:lstStyle/>
                    <a:p>
                      <a:r>
                        <a:rPr sz="1600">
                          <a:latin typeface="Times New Roman" panose="02020603050405020304" charset="0"/>
                          <a:cs typeface="Times New Roman" panose="02020603050405020304" charset="0"/>
                        </a:rPr>
                        <a:t>Requirement</a:t>
                      </a:r>
                    </a:p>
                  </a:txBody>
                  <a:tcPr marL="0" marR="0" marT="0" marB="0" anchor="ctr"/>
                </a:tc>
                <a:extLst>
                  <a:ext uri="{0D108BD9-81ED-4DB2-BD59-A6C34878D82A}">
                    <a16:rowId xmlns:a16="http://schemas.microsoft.com/office/drawing/2014/main" val="10000"/>
                  </a:ext>
                </a:extLst>
              </a:tr>
              <a:tr h="351790">
                <a:tc>
                  <a:txBody>
                    <a:bodyPr/>
                    <a:lstStyle/>
                    <a:p>
                      <a:r>
                        <a:rPr sz="1600">
                          <a:latin typeface="Times New Roman" panose="02020603050405020304" charset="0"/>
                          <a:cs typeface="Times New Roman" panose="02020603050405020304" charset="0"/>
                        </a:rPr>
                        <a:t>Operating System</a:t>
                      </a:r>
                    </a:p>
                  </a:txBody>
                  <a:tcPr marL="0" marR="0" marT="0" marB="0" anchor="ctr"/>
                </a:tc>
                <a:tc>
                  <a:txBody>
                    <a:bodyPr/>
                    <a:lstStyle/>
                    <a:p>
                      <a:r>
                        <a:rPr sz="1600">
                          <a:latin typeface="Times New Roman" panose="02020603050405020304" charset="0"/>
                          <a:cs typeface="Times New Roman" panose="02020603050405020304" charset="0"/>
                        </a:rPr>
                        <a:t>Windows 10/11, Linux Ubuntu</a:t>
                      </a:r>
                    </a:p>
                  </a:txBody>
                  <a:tcPr marL="0" marR="0" marT="0" marB="0" anchor="ctr"/>
                </a:tc>
                <a:extLst>
                  <a:ext uri="{0D108BD9-81ED-4DB2-BD59-A6C34878D82A}">
                    <a16:rowId xmlns:a16="http://schemas.microsoft.com/office/drawing/2014/main" val="10001"/>
                  </a:ext>
                </a:extLst>
              </a:tr>
              <a:tr h="351790">
                <a:tc>
                  <a:txBody>
                    <a:bodyPr/>
                    <a:lstStyle/>
                    <a:p>
                      <a:r>
                        <a:rPr sz="1600">
                          <a:latin typeface="Times New Roman" panose="02020603050405020304" charset="0"/>
                          <a:cs typeface="Times New Roman" panose="02020603050405020304" charset="0"/>
                        </a:rPr>
                        <a:t>Programming Language</a:t>
                      </a:r>
                    </a:p>
                  </a:txBody>
                  <a:tcPr marL="0" marR="0" marT="0" marB="0" anchor="ctr"/>
                </a:tc>
                <a:tc>
                  <a:txBody>
                    <a:bodyPr/>
                    <a:lstStyle/>
                    <a:p>
                      <a:r>
                        <a:rPr sz="1600">
                          <a:latin typeface="Times New Roman" panose="02020603050405020304" charset="0"/>
                          <a:cs typeface="Times New Roman" panose="02020603050405020304" charset="0"/>
                        </a:rPr>
                        <a:t>Java / JavaScript</a:t>
                      </a:r>
                    </a:p>
                  </a:txBody>
                  <a:tcPr marL="0" marR="0" marT="0" marB="0" anchor="ctr"/>
                </a:tc>
                <a:extLst>
                  <a:ext uri="{0D108BD9-81ED-4DB2-BD59-A6C34878D82A}">
                    <a16:rowId xmlns:a16="http://schemas.microsoft.com/office/drawing/2014/main" val="10002"/>
                  </a:ext>
                </a:extLst>
              </a:tr>
              <a:tr h="351790">
                <a:tc>
                  <a:txBody>
                    <a:bodyPr/>
                    <a:lstStyle/>
                    <a:p>
                      <a:r>
                        <a:rPr sz="1600">
                          <a:latin typeface="Times New Roman" panose="02020603050405020304" charset="0"/>
                          <a:cs typeface="Times New Roman" panose="02020603050405020304" charset="0"/>
                        </a:rPr>
                        <a:t>Frontend</a:t>
                      </a:r>
                    </a:p>
                  </a:txBody>
                  <a:tcPr marL="0" marR="0" marT="0" marB="0" anchor="ctr"/>
                </a:tc>
                <a:tc>
                  <a:txBody>
                    <a:bodyPr/>
                    <a:lstStyle/>
                    <a:p>
                      <a:r>
                        <a:rPr sz="1600">
                          <a:latin typeface="Times New Roman" panose="02020603050405020304" charset="0"/>
                          <a:cs typeface="Times New Roman" panose="02020603050405020304" charset="0"/>
                        </a:rPr>
                        <a:t>HTML5, CSS3, JavaScript</a:t>
                      </a:r>
                    </a:p>
                  </a:txBody>
                  <a:tcPr marL="0" marR="0" marT="0" marB="0" anchor="ctr"/>
                </a:tc>
                <a:extLst>
                  <a:ext uri="{0D108BD9-81ED-4DB2-BD59-A6C34878D82A}">
                    <a16:rowId xmlns:a16="http://schemas.microsoft.com/office/drawing/2014/main" val="10003"/>
                  </a:ext>
                </a:extLst>
              </a:tr>
              <a:tr h="351790">
                <a:tc>
                  <a:txBody>
                    <a:bodyPr/>
                    <a:lstStyle/>
                    <a:p>
                      <a:r>
                        <a:rPr sz="1600">
                          <a:latin typeface="Times New Roman" panose="02020603050405020304" charset="0"/>
                          <a:cs typeface="Times New Roman" panose="02020603050405020304" charset="0"/>
                        </a:rPr>
                        <a:t>Backend</a:t>
                      </a:r>
                    </a:p>
                  </a:txBody>
                  <a:tcPr marL="0" marR="0" marT="0" marB="0" anchor="ctr"/>
                </a:tc>
                <a:tc>
                  <a:txBody>
                    <a:bodyPr/>
                    <a:lstStyle/>
                    <a:p>
                      <a:r>
                        <a:rPr sz="1600">
                          <a:latin typeface="Times New Roman" panose="02020603050405020304" charset="0"/>
                          <a:cs typeface="Times New Roman" panose="02020603050405020304" charset="0"/>
                        </a:rPr>
                        <a:t>Java Spring Boot / Node.js</a:t>
                      </a:r>
                    </a:p>
                  </a:txBody>
                  <a:tcPr marL="0" marR="0" marT="0" marB="0" anchor="ctr"/>
                </a:tc>
                <a:extLst>
                  <a:ext uri="{0D108BD9-81ED-4DB2-BD59-A6C34878D82A}">
                    <a16:rowId xmlns:a16="http://schemas.microsoft.com/office/drawing/2014/main" val="10004"/>
                  </a:ext>
                </a:extLst>
              </a:tr>
              <a:tr h="351790">
                <a:tc>
                  <a:txBody>
                    <a:bodyPr/>
                    <a:lstStyle/>
                    <a:p>
                      <a:r>
                        <a:rPr sz="1600">
                          <a:latin typeface="Times New Roman" panose="02020603050405020304" charset="0"/>
                          <a:cs typeface="Times New Roman" panose="02020603050405020304" charset="0"/>
                        </a:rPr>
                        <a:t>Database</a:t>
                      </a:r>
                    </a:p>
                  </a:txBody>
                  <a:tcPr marL="0" marR="0" marT="0" marB="0" anchor="ctr"/>
                </a:tc>
                <a:tc>
                  <a:txBody>
                    <a:bodyPr/>
                    <a:lstStyle/>
                    <a:p>
                      <a:r>
                        <a:rPr sz="1600">
                          <a:latin typeface="Times New Roman" panose="02020603050405020304" charset="0"/>
                          <a:cs typeface="Times New Roman" panose="02020603050405020304" charset="0"/>
                        </a:rPr>
                        <a:t>MySQL</a:t>
                      </a:r>
                    </a:p>
                  </a:txBody>
                  <a:tcPr marL="0" marR="0" marT="0" marB="0" anchor="ctr"/>
                </a:tc>
                <a:extLst>
                  <a:ext uri="{0D108BD9-81ED-4DB2-BD59-A6C34878D82A}">
                    <a16:rowId xmlns:a16="http://schemas.microsoft.com/office/drawing/2014/main" val="10005"/>
                  </a:ext>
                </a:extLst>
              </a:tr>
              <a:tr h="351790">
                <a:tc>
                  <a:txBody>
                    <a:bodyPr/>
                    <a:lstStyle/>
                    <a:p>
                      <a:r>
                        <a:rPr sz="1600">
                          <a:latin typeface="Times New Roman" panose="02020603050405020304" charset="0"/>
                          <a:cs typeface="Times New Roman" panose="02020603050405020304" charset="0"/>
                        </a:rPr>
                        <a:t>Database Management</a:t>
                      </a:r>
                    </a:p>
                  </a:txBody>
                  <a:tcPr marL="0" marR="0" marT="0" marB="0" anchor="ctr"/>
                </a:tc>
                <a:tc>
                  <a:txBody>
                    <a:bodyPr/>
                    <a:lstStyle/>
                    <a:p>
                      <a:r>
                        <a:rPr sz="1600">
                          <a:latin typeface="Times New Roman" panose="02020603050405020304" charset="0"/>
                          <a:cs typeface="Times New Roman" panose="02020603050405020304" charset="0"/>
                        </a:rPr>
                        <a:t>MySQL Workbench</a:t>
                      </a:r>
                    </a:p>
                  </a:txBody>
                  <a:tcPr marL="0" marR="0" marT="0" marB="0" anchor="ctr"/>
                </a:tc>
                <a:extLst>
                  <a:ext uri="{0D108BD9-81ED-4DB2-BD59-A6C34878D82A}">
                    <a16:rowId xmlns:a16="http://schemas.microsoft.com/office/drawing/2014/main" val="10006"/>
                  </a:ext>
                </a:extLst>
              </a:tr>
              <a:tr h="351790">
                <a:tc>
                  <a:txBody>
                    <a:bodyPr/>
                    <a:lstStyle/>
                    <a:p>
                      <a:r>
                        <a:rPr sz="1600">
                          <a:latin typeface="Times New Roman" panose="02020603050405020304" charset="0"/>
                          <a:cs typeface="Times New Roman" panose="02020603050405020304" charset="0"/>
                        </a:rPr>
                        <a:t>Development Environment</a:t>
                      </a:r>
                    </a:p>
                  </a:txBody>
                  <a:tcPr marL="0" marR="0" marT="0" marB="0" anchor="ctr"/>
                </a:tc>
                <a:tc>
                  <a:txBody>
                    <a:bodyPr/>
                    <a:lstStyle/>
                    <a:p>
                      <a:r>
                        <a:rPr sz="1600">
                          <a:latin typeface="Times New Roman" panose="02020603050405020304" charset="0"/>
                          <a:cs typeface="Times New Roman" panose="02020603050405020304" charset="0"/>
                        </a:rPr>
                        <a:t>Visual Studio Code / IntelliJ IDEA</a:t>
                      </a:r>
                    </a:p>
                  </a:txBody>
                  <a:tcPr marL="0" marR="0" marT="0" marB="0" anchor="ctr"/>
                </a:tc>
                <a:extLst>
                  <a:ext uri="{0D108BD9-81ED-4DB2-BD59-A6C34878D82A}">
                    <a16:rowId xmlns:a16="http://schemas.microsoft.com/office/drawing/2014/main" val="10007"/>
                  </a:ext>
                </a:extLst>
              </a:tr>
              <a:tr h="351790">
                <a:tc>
                  <a:txBody>
                    <a:bodyPr/>
                    <a:lstStyle/>
                    <a:p>
                      <a:r>
                        <a:rPr sz="1600">
                          <a:latin typeface="Times New Roman" panose="02020603050405020304" charset="0"/>
                          <a:cs typeface="Times New Roman" panose="02020603050405020304" charset="0"/>
                        </a:rPr>
                        <a:t>API Testing</a:t>
                      </a:r>
                    </a:p>
                  </a:txBody>
                  <a:tcPr marL="0" marR="0" marT="0" marB="0" anchor="ctr"/>
                </a:tc>
                <a:tc>
                  <a:txBody>
                    <a:bodyPr/>
                    <a:lstStyle/>
                    <a:p>
                      <a:r>
                        <a:rPr sz="1600">
                          <a:latin typeface="Times New Roman" panose="02020603050405020304" charset="0"/>
                          <a:cs typeface="Times New Roman" panose="02020603050405020304" charset="0"/>
                        </a:rPr>
                        <a:t>Postman</a:t>
                      </a:r>
                    </a:p>
                  </a:txBody>
                  <a:tcPr marL="0" marR="0" marT="0" marB="0" anchor="ctr"/>
                </a:tc>
                <a:extLst>
                  <a:ext uri="{0D108BD9-81ED-4DB2-BD59-A6C34878D82A}">
                    <a16:rowId xmlns:a16="http://schemas.microsoft.com/office/drawing/2014/main" val="10008"/>
                  </a:ext>
                </a:extLst>
              </a:tr>
              <a:tr h="351790">
                <a:tc>
                  <a:txBody>
                    <a:bodyPr/>
                    <a:lstStyle/>
                    <a:p>
                      <a:r>
                        <a:rPr sz="1600">
                          <a:latin typeface="Times New Roman" panose="02020603050405020304" charset="0"/>
                          <a:cs typeface="Times New Roman" panose="02020603050405020304" charset="0"/>
                        </a:rPr>
                        <a:t>Version Control</a:t>
                      </a:r>
                    </a:p>
                  </a:txBody>
                  <a:tcPr marL="0" marR="0" marT="0" marB="0" anchor="ctr"/>
                </a:tc>
                <a:tc>
                  <a:txBody>
                    <a:bodyPr/>
                    <a:lstStyle/>
                    <a:p>
                      <a:r>
                        <a:rPr sz="1600">
                          <a:latin typeface="Times New Roman" panose="02020603050405020304" charset="0"/>
                          <a:cs typeface="Times New Roman" panose="02020603050405020304" charset="0"/>
                        </a:rPr>
                        <a:t>Git and GitHub</a:t>
                      </a:r>
                    </a:p>
                  </a:txBody>
                  <a:tcPr marL="0" marR="0" marT="0" marB="0" anchor="ctr"/>
                </a:tc>
                <a:extLst>
                  <a:ext uri="{0D108BD9-81ED-4DB2-BD59-A6C34878D82A}">
                    <a16:rowId xmlns:a16="http://schemas.microsoft.com/office/drawing/2014/main" val="10009"/>
                  </a:ext>
                </a:extLst>
              </a:tr>
              <a:tr h="351790">
                <a:tc>
                  <a:txBody>
                    <a:bodyPr/>
                    <a:lstStyle/>
                    <a:p>
                      <a:r>
                        <a:rPr sz="1600">
                          <a:latin typeface="Times New Roman" panose="02020603050405020304" charset="0"/>
                          <a:cs typeface="Times New Roman" panose="02020603050405020304" charset="0"/>
                        </a:rPr>
                        <a:t>Browser</a:t>
                      </a:r>
                    </a:p>
                  </a:txBody>
                  <a:tcPr marL="0" marR="0" marT="0" marB="0" anchor="ctr"/>
                </a:tc>
                <a:tc>
                  <a:txBody>
                    <a:bodyPr/>
                    <a:lstStyle/>
                    <a:p>
                      <a:r>
                        <a:rPr sz="1600">
                          <a:latin typeface="Times New Roman" panose="02020603050405020304" charset="0"/>
                          <a:cs typeface="Times New Roman" panose="02020603050405020304" charset="0"/>
                        </a:rPr>
                        <a:t>Google Chrome / Microsoft Edge</a:t>
                      </a:r>
                    </a:p>
                  </a:txBody>
                  <a:tcPr marL="0" marR="0" marT="0" marB="0" anchor="ctr"/>
                </a:tc>
                <a:extLst>
                  <a:ext uri="{0D108BD9-81ED-4DB2-BD59-A6C34878D82A}">
                    <a16:rowId xmlns:a16="http://schemas.microsoft.com/office/drawing/2014/main" val="10010"/>
                  </a:ext>
                </a:extLst>
              </a:tr>
              <a:tr h="351790">
                <a:tc>
                  <a:txBody>
                    <a:bodyPr/>
                    <a:lstStyle/>
                    <a:p>
                      <a:r>
                        <a:rPr sz="1600">
                          <a:latin typeface="Times New Roman" panose="02020603050405020304" charset="0"/>
                          <a:cs typeface="Times New Roman" panose="02020603050405020304" charset="0"/>
                        </a:rPr>
                        <a:t>Database Connectivity</a:t>
                      </a:r>
                    </a:p>
                  </a:txBody>
                  <a:tcPr marL="0" marR="0" marT="0" marB="0" anchor="ctr"/>
                </a:tc>
                <a:tc>
                  <a:txBody>
                    <a:bodyPr/>
                    <a:lstStyle/>
                    <a:p>
                      <a:r>
                        <a:rPr sz="1600">
                          <a:latin typeface="Times New Roman" panose="02020603050405020304" charset="0"/>
                          <a:cs typeface="Times New Roman" panose="02020603050405020304" charset="0"/>
                        </a:rPr>
                        <a:t>JDBC / REST API</a:t>
                      </a:r>
                    </a:p>
                  </a:txBody>
                  <a:tcPr marL="0" marR="0" marT="0" marB="0" anchor="ctr"/>
                </a:tc>
                <a:extLst>
                  <a:ext uri="{0D108BD9-81ED-4DB2-BD59-A6C34878D82A}">
                    <a16:rowId xmlns:a16="http://schemas.microsoft.com/office/drawing/2014/main" val="10011"/>
                  </a:ext>
                </a:extLst>
              </a:tr>
              <a:tr h="351790">
                <a:tc>
                  <a:txBody>
                    <a:bodyPr/>
                    <a:lstStyle/>
                    <a:p>
                      <a:r>
                        <a:rPr sz="1600">
                          <a:latin typeface="Times New Roman" panose="02020603050405020304" charset="0"/>
                          <a:cs typeface="Times New Roman" panose="02020603050405020304" charset="0"/>
                        </a:rPr>
                        <a:t>Documentation</a:t>
                      </a:r>
                    </a:p>
                  </a:txBody>
                  <a:tcPr marL="0" marR="0" marT="0" marB="0" anchor="ctr"/>
                </a:tc>
                <a:tc>
                  <a:txBody>
                    <a:bodyPr/>
                    <a:lstStyle/>
                    <a:p>
                      <a:r>
                        <a:rPr sz="1600">
                          <a:latin typeface="Times New Roman" panose="02020603050405020304" charset="0"/>
                          <a:cs typeface="Times New Roman" panose="02020603050405020304" charset="0"/>
                        </a:rPr>
                        <a:t>Microsoft PowerPoint / MS Word</a:t>
                      </a:r>
                    </a:p>
                  </a:txBody>
                  <a:tcPr marL="0" marR="0" marT="0" marB="0"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t>12</a:t>
            </a:fld>
            <a:endParaRPr lang="en-US" dirty="0"/>
          </a:p>
        </p:txBody>
      </p:sp>
      <p:sp>
        <p:nvSpPr>
          <p:cNvPr id="3" name="Text Box 2"/>
          <p:cNvSpPr txBox="1"/>
          <p:nvPr/>
        </p:nvSpPr>
        <p:spPr>
          <a:xfrm>
            <a:off x="518160" y="1195705"/>
            <a:ext cx="10955655" cy="5480050"/>
          </a:xfrm>
          <a:prstGeom prst="rect">
            <a:avLst/>
          </a:prstGeom>
        </p:spPr>
        <p:txBody>
          <a:bodyPr>
            <a:noAutofit/>
          </a:bodyPr>
          <a:lstStyle/>
          <a:p>
            <a:r>
              <a:rPr lang="en-US" altLang="en-US" b="1">
                <a:latin typeface="Times New Roman" panose="02020603050405020304" charset="0"/>
                <a:cs typeface="Times New Roman" panose="02020603050405020304" charset="0"/>
              </a:rPr>
              <a:t>Conclusion</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The Intelligent Recruitment Platform with Database Systems and Backend Engineering provides a centralized solution for managing the recruitment process. It brings candidates, recruiters, job postings, applications, and interviews together on a single platform, reducing manual work and making recruitment activities easier to manage.</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The structured database securely stores candidate, recruiter, job, application, and interview information. The backend handles authentication, validation, business logic, and database communication, helping to improve data consistency and reduce duplication.</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Overall, the system makes the recruitment process faster, organized, reliable, and easier to maintain for both recruiters and candidates.</a:t>
            </a:r>
          </a:p>
          <a:p>
            <a:endParaRPr lang="en-US" altLang="en-US" sz="1600">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Future Scope</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In the future, Artificial Intelligence and Machine Learning can be added for automatic resume screening and candidate-job matching. The system can also include resume parsing to extract skills, education, and experience automatically.</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Additional features such as automated notifications, recruitment chatbots, interview scheduling, analytics dashboards, cloud deployment, and advanced security can be integrated. These improvements can make the platform more intelligent, scalable, and suitable for real-world recruitment organizations.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BDAC5-6EDD-FE8A-2866-108172C5A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76BEE-783F-89A4-046E-20C880C39375}"/>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           SYSTEM ARCHITECTURE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B459E3DF-2ABF-2F64-2858-1D70082445DA}"/>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t>13</a:t>
            </a:fld>
            <a:endParaRPr lang="en-US" dirty="0"/>
          </a:p>
        </p:txBody>
      </p:sp>
      <p:sp>
        <p:nvSpPr>
          <p:cNvPr id="3" name="Text Box 2">
            <a:extLst>
              <a:ext uri="{FF2B5EF4-FFF2-40B4-BE49-F238E27FC236}">
                <a16:creationId xmlns:a16="http://schemas.microsoft.com/office/drawing/2014/main" id="{FED6F9B2-89F2-6369-95E4-452E30848658}"/>
              </a:ext>
            </a:extLst>
          </p:cNvPr>
          <p:cNvSpPr txBox="1"/>
          <p:nvPr/>
        </p:nvSpPr>
        <p:spPr>
          <a:xfrm>
            <a:off x="518160" y="1195705"/>
            <a:ext cx="10955655" cy="5480050"/>
          </a:xfrm>
          <a:prstGeom prst="rect">
            <a:avLst/>
          </a:prstGeom>
        </p:spPr>
        <p:txBody>
          <a:bodyPr>
            <a:noAutofit/>
          </a:bodyPr>
          <a:lstStyle/>
          <a:p>
            <a:endParaRPr lang="en-US" altLang="en-US" sz="1600" dirty="0">
              <a:latin typeface="Times New Roman" panose="02020603050405020304" charset="0"/>
              <a:cs typeface="Times New Roman" panose="02020603050405020304" charset="0"/>
            </a:endParaRPr>
          </a:p>
        </p:txBody>
      </p:sp>
      <p:pic>
        <p:nvPicPr>
          <p:cNvPr id="5" name="Picture 4">
            <a:extLst>
              <a:ext uri="{FF2B5EF4-FFF2-40B4-BE49-F238E27FC236}">
                <a16:creationId xmlns:a16="http://schemas.microsoft.com/office/drawing/2014/main" id="{D95E1EF9-49F5-03B3-3930-2FAE6C9B664F}"/>
              </a:ext>
            </a:extLst>
          </p:cNvPr>
          <p:cNvPicPr>
            <a:picLocks noChangeAspect="1"/>
          </p:cNvPicPr>
          <p:nvPr/>
        </p:nvPicPr>
        <p:blipFill>
          <a:blip r:embed="rId3"/>
          <a:stretch>
            <a:fillRect/>
          </a:stretch>
        </p:blipFill>
        <p:spPr>
          <a:xfrm>
            <a:off x="1551708" y="1088632"/>
            <a:ext cx="8006773" cy="5337849"/>
          </a:xfrm>
          <a:prstGeom prst="rect">
            <a:avLst/>
          </a:prstGeom>
        </p:spPr>
      </p:pic>
    </p:spTree>
    <p:extLst>
      <p:ext uri="{BB962C8B-B14F-4D97-AF65-F5344CB8AC3E}">
        <p14:creationId xmlns:p14="http://schemas.microsoft.com/office/powerpoint/2010/main" val="935020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p:cNvSpPr>
            <a:spLocks noGrp="1"/>
          </p:cNvSpPr>
          <p:nvPr>
            <p:ph type="sldNum" sz="quarter" idx="12"/>
          </p:nvPr>
        </p:nvSpPr>
        <p:spPr/>
        <p:txBody>
          <a:bodyPr/>
          <a:lstStyle/>
          <a:p>
            <a:fld id="{B961B71F-4B40-8942-BB88-E0F5C0B46E10}" type="slidenum">
              <a:rPr lang="en-US" smtClean="0"/>
              <a:t>14</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28*385"/>
  <p:tag name="TABLE_ENDDRAG_RECT" val="66*143*828*38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1665</Words>
  <Application>Microsoft Office PowerPoint</Application>
  <PresentationFormat>Widescreen</PresentationFormat>
  <Paragraphs>195</Paragraphs>
  <Slides>14</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Calibri Light</vt:lpstr>
      <vt:lpstr>Times New Roman</vt:lpstr>
      <vt:lpstr>Office Theme</vt:lpstr>
      <vt:lpstr>Custom Design</vt:lpstr>
      <vt:lpstr> 1st  REVIEW  Intelligent Recruitment Platform with Database Systems and Backend Engineering </vt:lpstr>
      <vt:lpstr>GROUP NUMBER:1</vt:lpstr>
      <vt:lpstr>ABSTRACT</vt:lpstr>
      <vt:lpstr>INTRDOUCTION</vt:lpstr>
      <vt:lpstr>EXISTING SYSTEM</vt:lpstr>
      <vt:lpstr>PROBLEM</vt:lpstr>
      <vt:lpstr>SOLUTION(Contribution)</vt:lpstr>
      <vt:lpstr>Objectives </vt:lpstr>
      <vt:lpstr>Modules</vt:lpstr>
      <vt:lpstr>PowerPoint Presentation</vt:lpstr>
      <vt:lpstr>SOFTWARE REQUIREMENTS </vt:lpstr>
      <vt:lpstr>CONCLUSION AND FUTURE SCOPE</vt:lpstr>
      <vt:lpstr>           SYSTEM ARCHITECTURE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Veda V</cp:lastModifiedBy>
  <cp:revision>97</cp:revision>
  <dcterms:created xsi:type="dcterms:W3CDTF">2022-05-20T10:20:00Z</dcterms:created>
  <dcterms:modified xsi:type="dcterms:W3CDTF">2026-08-20T03:08:01Z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7556383A6953409BBA688E90D556F158_12</vt:lpwstr>
  </property>
  <property fmtid="{D5CDD505-2E9C-101B-9397-08002B2CF9AE}" pid="3" name="KSOProductBuildVer">
    <vt:lpwstr>1033-12.1.0.28032</vt:lpwstr>
  </property>
</Properties>
</file>